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4B462"/>
          </a:solidFill>
          <a:ln w="12700">
            <a:solidFill>
              <a:srgbClr val="E4B4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03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C1D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LIBRARY MANAGEMENT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86384" y="37307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D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screens  /  File guide  /  Complete source appendix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41080" y="1143000"/>
            <a:ext cx="2423160" cy="4160520"/>
          </a:xfrm>
          <a:prstGeom prst="roundRect">
            <a:avLst>
              <a:gd name="adj" fmla="val 3019"/>
            </a:avLst>
          </a:prstGeom>
          <a:solidFill>
            <a:srgbClr val="2C483B"/>
          </a:solidFill>
          <a:ln w="12700">
            <a:solidFill>
              <a:srgbClr val="537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34272" y="169164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0" b="1" dirty="0">
                <a:solidFill>
                  <a:srgbClr val="E4B4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0400" dirty="0"/>
          </a:p>
        </p:txBody>
      </p:sp>
      <p:sp>
        <p:nvSpPr>
          <p:cNvPr id="8" name="Text 6"/>
          <p:cNvSpPr/>
          <p:nvPr/>
        </p:nvSpPr>
        <p:spPr>
          <a:xfrm>
            <a:off x="8732520" y="48006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D0D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GUIDE  /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frontend works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966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owns presentation and interactions; the API owns validation and persistent data.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E6EFE9"/>
          </a:solidFill>
          <a:ln w="10160">
            <a:solidFill>
              <a:srgbClr val="E3E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042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LibraryApp.jsx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Screens, forms, local state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71800" y="2834640"/>
            <a:ext cx="457200" cy="0"/>
          </a:xfrm>
          <a:prstGeom prst="line">
            <a:avLst/>
          </a:prstGeom>
          <a:noFill/>
          <a:ln w="19050">
            <a:solidFill>
              <a:srgbClr val="27624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0440" y="205740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E8F0F4"/>
          </a:solidFill>
          <a:ln w="10160">
            <a:solidFill>
              <a:srgbClr val="E3E8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3042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6700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lib/api.js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30175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JWT requests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52160" y="2834640"/>
            <a:ext cx="457200" cy="0"/>
          </a:xfrm>
          <a:prstGeom prst="line">
            <a:avLst/>
          </a:prstGeom>
          <a:noFill/>
          <a:ln w="19050">
            <a:solidFill>
              <a:srgbClr val="27624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0" y="205740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F6F0DD"/>
          </a:solidFill>
          <a:ln w="10160">
            <a:solidFill>
              <a:srgbClr val="E3E8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3042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6700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backend/routes + controllers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checks, business rules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732520" y="2834640"/>
            <a:ext cx="457200" cy="0"/>
          </a:xfrm>
          <a:prstGeom prst="line">
            <a:avLst/>
          </a:prstGeom>
          <a:noFill/>
          <a:ln w="19050">
            <a:solidFill>
              <a:srgbClr val="27624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81160" y="205740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FAECE7"/>
          </a:solidFill>
          <a:ln w="10160">
            <a:solidFill>
              <a:srgbClr val="E3E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23042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64040" y="26700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models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64040" y="30175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books, issues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is stored as a signed token; protected API requests send it in the Authorization header.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INTERFACE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dashboard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966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health, loans, availability, members, and recent activity in one place.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26680" y="1636776"/>
            <a:ext cx="228600" cy="228600"/>
          </a:xfrm>
          <a:prstGeom prst="ellipse">
            <a:avLst/>
          </a:prstGeom>
          <a:solidFill>
            <a:srgbClr val="27624E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6779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74152" y="16276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live metrics summarize copies, shelf availability, loans, and readers.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26680" y="2551176"/>
            <a:ext cx="228600" cy="228600"/>
          </a:xfrm>
          <a:prstGeom prst="ellipse">
            <a:avLst/>
          </a:prstGeom>
          <a:solidFill>
            <a:srgbClr val="DCE9E0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25923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074152" y="25420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Collection-health bars update from MongoDB-backed totals.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3465576"/>
            <a:ext cx="228600" cy="228600"/>
          </a:xfrm>
          <a:prstGeom prst="ellipse">
            <a:avLst/>
          </a:prstGeom>
          <a:solidFill>
            <a:srgbClr val="DCE9E0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5067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74152" y="34564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 route directly to catalog, members, and circulation.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MANAGEMENT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catalog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966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maintain titles, ISBNs, categories, and copy availability.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26680" y="1636776"/>
            <a:ext cx="228600" cy="228600"/>
          </a:xfrm>
          <a:prstGeom prst="ellipse">
            <a:avLst/>
          </a:prstGeom>
          <a:solidFill>
            <a:srgbClr val="27624E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6779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74152" y="16276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matches title, author, or ISBN.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26680" y="2551176"/>
            <a:ext cx="228600" cy="228600"/>
          </a:xfrm>
          <a:prstGeom prst="ellipse">
            <a:avLst/>
          </a:prstGeom>
          <a:solidFill>
            <a:srgbClr val="DCE9E0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25923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074152" y="25420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and availability filters narrow the table.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3465576"/>
            <a:ext cx="228600" cy="228600"/>
          </a:xfrm>
          <a:prstGeom prst="ellipse">
            <a:avLst/>
          </a:prstGeom>
          <a:solidFill>
            <a:srgbClr val="DCE9E0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5067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74152" y="34564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edit, and delete actions use the protected books API.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+ CIRCULATION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and book loans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966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records and check-in history are kept separate but connected by each issue record.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48640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1"/>
            </a:solidFill>
            <a:prstDash val="solid"/>
          </a:ln>
        </p:spPr>
      </p:sp>
      <p:pic>
        <p:nvPicPr>
          <p:cNvPr id="6" name="Image 0" descr="C:\Users\panka\OneDrive\Documents\library-management\documentation\screenshots\me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2823"/>
            <a:ext cx="5394960" cy="33718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99632" y="1481328"/>
            <a:ext cx="548640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1"/>
            </a:solidFill>
            <a:prstDash val="solid"/>
          </a:ln>
        </p:spPr>
      </p:sp>
      <p:pic>
        <p:nvPicPr>
          <p:cNvPr id="8" name="Image 1" descr="C:\Users\panka\OneDrive\Documents\library-management\documentation\screenshots\circu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012823"/>
            <a:ext cx="5394960" cy="3371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600760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Members: create, edit, and remove accounts. Open loans block deletion.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309360" y="600760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Circulation: check out available copies, track due dates, and check books back in.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edit forms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966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Dialogs gather structured data, validate required fields, and report API errors.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26680" y="1636776"/>
            <a:ext cx="228600" cy="228600"/>
          </a:xfrm>
          <a:prstGeom prst="ellipse">
            <a:avLst/>
          </a:prstGeom>
          <a:solidFill>
            <a:srgbClr val="27624E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6779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74152" y="16276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form records title, author, ISBN, category, and copy count.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26680" y="2551176"/>
            <a:ext cx="228600" cy="228600"/>
          </a:xfrm>
          <a:prstGeom prst="ellipse">
            <a:avLst/>
          </a:prstGeom>
          <a:solidFill>
            <a:srgbClr val="DCE9E0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25923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074152" y="25420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form creates accounts with hashed passwords.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3465576"/>
            <a:ext cx="228600" cy="228600"/>
          </a:xfrm>
          <a:prstGeom prst="ellipse">
            <a:avLst/>
          </a:prstGeom>
          <a:solidFill>
            <a:srgbClr val="DCE9E0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5067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74152" y="34564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form requires a member, an available book, and a future due date.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SMALL-SCREEN LAYOUT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workspace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966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narrow screens the sidebar collapses to an icon rail and remains visible while scrolling.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26680" y="1636776"/>
            <a:ext cx="228600" cy="228600"/>
          </a:xfrm>
          <a:prstGeom prst="ellipse">
            <a:avLst/>
          </a:prstGeom>
          <a:solidFill>
            <a:srgbClr val="27624E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6779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74152" y="16276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stays available in the sticky side rail.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26680" y="2551176"/>
            <a:ext cx="228600" cy="228600"/>
          </a:xfrm>
          <a:prstGeom prst="ellipse">
            <a:avLst/>
          </a:prstGeom>
          <a:solidFill>
            <a:srgbClr val="DCE9E0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25923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074152" y="25420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scroll inside their own region instead of widening the full page.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3465576"/>
            <a:ext cx="228600" cy="228600"/>
          </a:xfrm>
          <a:prstGeom prst="ellipse">
            <a:avLst/>
          </a:prstGeom>
          <a:solidFill>
            <a:srgbClr val="DCE9E0"/>
          </a:solidFill>
          <a:ln w="12700">
            <a:solidFill>
              <a:srgbClr val="27624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5067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74152" y="3456432"/>
            <a:ext cx="3538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stack vertically on small screens.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FILE-BY-FILE GUIDE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runtime files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966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text sources are reproduced after the presentation in the PDF appendix.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67128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087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package.json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1499616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scripts and React, Vite, and icon dependencies.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311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2221992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generated frontend files from being committed.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535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.oxlintrc.json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944368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Oxlint configuration used by the frontend lint command.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334256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758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3666744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starter documentation; app-specific setup is in the root README.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5056632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3982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4389120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document shell, page title, metadata, and React mount node.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5779008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51206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vite.config.js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5111496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the React plugin and configures Vite.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6501384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58430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src/main.jsx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5833872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Bootstraps React and mounts LibraryApp into #root.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7223760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65653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src/LibraryApp.jsx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6556248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UI: auth, dashboard, catalog, members, circulation, forms, and actions.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7946136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72877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src/lib/api.js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7278624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wrapper: API base URL, bearer token, JSON requests, and errors.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FILE-BY-FILE GUIDE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Styles, assets, and starter files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966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text sources are reproduced after the presentation in the PDF appendix.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67128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087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src/App.jsx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1499616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Vite starter demo; main.jsx imports LibraryApp directly.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311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src/index.css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2221992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base styles from the Vite starter; loaded before app styles.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535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src/LibraryApp.css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944368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system and responsive styles for the Stacks workspace.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334256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758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src/WorkspaceLayout.css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3666744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the workspace navigation rail during page scrolling.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5056632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3982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src/App.css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4389120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Vite starter stylesheet; not imported by the running app.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5779008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51206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src/assets/react.svg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5111496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React starter illustration.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6501384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58430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src/assets/vite.svg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5833872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Vite starter illustration.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7223760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65653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src/assets/hero.png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6556248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Vite starter raster image; binary asset, not code.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7946136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72877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public/favicon.svg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7278624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SVG favicon asset; not source logic.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8668512"/>
            <a:ext cx="10972800" cy="0"/>
          </a:xfrm>
          <a:prstGeom prst="line">
            <a:avLst/>
          </a:prstGeom>
          <a:noFill/>
          <a:ln w="8890">
            <a:solidFill>
              <a:srgbClr val="E3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80101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public/icons.svg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8001000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icon sprite from the Vite starter; not used by the app.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2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7CC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SOURCE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action,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965960" cy="1691640"/>
          </a:xfrm>
          <a:prstGeom prst="roundRect">
            <a:avLst>
              <a:gd name="adj" fmla="val 2703"/>
            </a:avLst>
          </a:prstGeom>
          <a:solidFill>
            <a:srgbClr val="2B4035"/>
          </a:solidFill>
          <a:ln w="10160">
            <a:solidFill>
              <a:srgbClr val="4E69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B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clicks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D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LibraryApp.jsx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9464" y="2852928"/>
            <a:ext cx="301752" cy="0"/>
          </a:xfrm>
          <a:prstGeom prst="line">
            <a:avLst/>
          </a:prstGeom>
          <a:noFill/>
          <a:ln w="15240">
            <a:solidFill>
              <a:srgbClr val="E4B46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98648" y="2011680"/>
            <a:ext cx="1965960" cy="1691640"/>
          </a:xfrm>
          <a:prstGeom prst="roundRect">
            <a:avLst>
              <a:gd name="adj" fmla="val 2703"/>
            </a:avLst>
          </a:prstGeom>
          <a:solidFill>
            <a:srgbClr val="2B4035"/>
          </a:solidFill>
          <a:ln w="10160">
            <a:solidFill>
              <a:srgbClr val="4E69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B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is checked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D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API validation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73752" y="2852928"/>
            <a:ext cx="301752" cy="0"/>
          </a:xfrm>
          <a:prstGeom prst="line">
            <a:avLst/>
          </a:prstGeom>
          <a:noFill/>
          <a:ln w="15240">
            <a:solidFill>
              <a:srgbClr val="E4B46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02936" y="2011680"/>
            <a:ext cx="1965960" cy="1691640"/>
          </a:xfrm>
          <a:prstGeom prst="roundRect">
            <a:avLst>
              <a:gd name="adj" fmla="val 2703"/>
            </a:avLst>
          </a:prstGeom>
          <a:solidFill>
            <a:srgbClr val="2B4035"/>
          </a:solidFill>
          <a:ln w="10160">
            <a:solidFill>
              <a:srgbClr val="4E69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B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67528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is sent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67528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D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lib/api.js + JWT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78040" y="2852928"/>
            <a:ext cx="301752" cy="0"/>
          </a:xfrm>
          <a:prstGeom prst="line">
            <a:avLst/>
          </a:prstGeom>
          <a:noFill/>
          <a:ln w="15240">
            <a:solidFill>
              <a:srgbClr val="E4B46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07224" y="2011680"/>
            <a:ext cx="1965960" cy="1691640"/>
          </a:xfrm>
          <a:prstGeom prst="roundRect">
            <a:avLst>
              <a:gd name="adj" fmla="val 2703"/>
            </a:avLst>
          </a:prstGeom>
          <a:solidFill>
            <a:srgbClr val="2B4035"/>
          </a:solidFill>
          <a:ln w="10160">
            <a:solidFill>
              <a:srgbClr val="4E69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71816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B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71816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saved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71816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D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+ MongoDB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482328" y="2852928"/>
            <a:ext cx="301752" cy="0"/>
          </a:xfrm>
          <a:prstGeom prst="line">
            <a:avLst/>
          </a:prstGeom>
          <a:noFill/>
          <a:ln w="15240">
            <a:solidFill>
              <a:srgbClr val="E4B46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11512" y="2011680"/>
            <a:ext cx="1965960" cy="1691640"/>
          </a:xfrm>
          <a:prstGeom prst="roundRect">
            <a:avLst>
              <a:gd name="adj" fmla="val 2703"/>
            </a:avLst>
          </a:prstGeom>
          <a:solidFill>
            <a:srgbClr val="2B4035"/>
          </a:solidFill>
          <a:ln w="10160">
            <a:solidFill>
              <a:srgbClr val="4E69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76104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B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76104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refreshes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76104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D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and tables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app:  npm run build     •     Rebuild this guide:  npm run documentation:build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83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 /  FRONTEND WALKTHROUGH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Stacks Library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 Frontend Walkthrough</dc:title>
  <dc:subject>Frontend UI walkthrough and source-code guide</dc:subject>
  <dc:creator>Stacks Library Management</dc:creator>
  <cp:lastModifiedBy>Stacks Library Management</cp:lastModifiedBy>
  <cp:revision>1</cp:revision>
  <dcterms:created xsi:type="dcterms:W3CDTF">2026-10-01T20:29:32Z</dcterms:created>
  <dcterms:modified xsi:type="dcterms:W3CDTF">2026-10-01T20:29:32Z</dcterms:modified>
</cp:coreProperties>
</file>